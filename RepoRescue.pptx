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oRescue Pitch" id="{165939f5-79af-31e7-7d5f-418e980c2ed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RepoRescue helps beginners make their first open-source contribution by fixing messy repositories and opening a ready Pull Request in about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of new contributors leave within 15 minutes. Three reasons: hard setup, silent test failures, and tired maintainers.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scanners hand maintainers a long report. RepoRescue writes the fixes, checks them, and opens the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steps: scan, find, fix, review, verify. Nothing is sent upstream until the score improvement is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RepoRescue forks the project, builds the commit through GitHub's API, and keeps permissions minimal and tokens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uses 21 fixed rules in 5 weighted areas. The core needs no AI. Optional Gemini only explains changes. 99/99 tests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benchmark repo beacon-api, readiness went from 47 to 84, 7 files were added, and the PR was ready in under 4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RR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RR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R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02336" y="2926080"/>
            <a:ext cx="6217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R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868680"/>
          </a:xfrm>
          <a:prstGeom prst="rect">
            <a:avLst>
              <a:gd name="adj" fmla="val 147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0312" y="128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0312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accent1"/>
                </a:solidFill>
              </a:rPr>
              <a:t>COGNIVANCE</a:t>
            </a:r>
            <a:endParaRPr lang="en-US" sz="2160" dirty="0"/>
          </a:p>
        </p:txBody>
      </p:sp>
      <p:sp>
        <p:nvSpPr>
          <p:cNvPr id="5" name="Shape 3"/>
          <p:cNvSpPr/>
          <p:nvPr/>
        </p:nvSpPr>
        <p:spPr>
          <a:xfrm>
            <a:off x="2389876" y="166787"/>
            <a:ext cx="0" cy="409651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70632" y="1280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70632" y="4023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chemeClr val="tx1"/>
                </a:solidFill>
              </a:rPr>
              <a:t>Ayushman Sharma · Shreyas Gondkar · Devansh Bansal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48715" y="166787"/>
            <a:ext cx="0" cy="409651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69096" y="128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769096" y="402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chemeClr val="tx1"/>
                </a:solidFill>
              </a:rPr>
              <a:t>DevForge Hacktoberfest 2026</a:t>
            </a:r>
            <a:endParaRPr lang="en-US" sz="1620" dirty="0"/>
          </a:p>
        </p:txBody>
      </p:sp>
      <p:sp>
        <p:nvSpPr>
          <p:cNvPr id="11" name="Dot"/>
          <p:cNvSpPr/>
          <p:nvPr/>
        </p:nvSpPr>
        <p:spPr>
          <a:xfrm>
            <a:off x="402336" y="2566675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001" y="2481316"/>
            <a:ext cx="621106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helping people make their first open-source contribution</a:t>
            </a:r>
            <a:endParaRPr lang="en-US" sz="13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02336" y="292608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Repo</a:t>
            </a:r>
            <a:pPr algn="l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Rescue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" y="4181368"/>
            <a:ext cx="6019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dirty="0">
                <a:solidFill>
                  <a:schemeClr val="tx2"/>
                </a:solidFill>
              </a:rPr>
              <a:t>We fix messy open-source projects, so new contributors can start in 60 seconds.</a:t>
            </a:r>
            <a:endParaRPr lang="en-US" sz="1940" dirty="0"/>
          </a:p>
        </p:txBody>
      </p:sp>
      <p:sp>
        <p:nvSpPr>
          <p:cNvPr id="15" name="Text 13"/>
          <p:cNvSpPr txBox="1"/>
          <p:nvPr/>
        </p:nvSpPr>
        <p:spPr>
          <a:xfrm>
            <a:off x="402336" y="5051877"/>
            <a:ext cx="6211062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i="1" dirty="0">
                <a:solidFill>
                  <a:schemeClr val="accent2"/>
                </a:solidFill>
              </a:rPr>
              <a:t>“Rescue the first contribution, not just the README.”</a:t>
            </a:r>
            <a:endParaRPr lang="en-US" sz="1940" dirty="0"/>
          </a:p>
        </p:txBody>
      </p:sp>
      <p:sp>
        <p:nvSpPr>
          <p:cNvPr id="16" name="Pill"/>
          <p:cNvSpPr/>
          <p:nvPr/>
        </p:nvSpPr>
        <p:spPr>
          <a:xfrm>
            <a:off x="402336" y="5512735"/>
            <a:ext cx="3248863" cy="368686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" y="5512735"/>
            <a:ext cx="3248863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Finalist Presentation</a:t>
            </a:r>
            <a:endParaRPr lang="en-US" sz="1300" dirty="0"/>
          </a:p>
        </p:txBody>
      </p:sp>
      <p:sp>
        <p:nvSpPr>
          <p:cNvPr id="18" name="Scan card"/>
          <p:cNvSpPr/>
          <p:nvPr/>
        </p:nvSpPr>
        <p:spPr>
          <a:xfrm>
            <a:off x="6594287" y="2317455"/>
            <a:ext cx="5169515" cy="3543483"/>
          </a:xfrm>
          <a:prstGeom prst="roundRect">
            <a:avLst>
              <a:gd name="adj" fmla="val 539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3174" y="2522281"/>
            <a:ext cx="3822192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tx1"/>
                </a:solidFill>
              </a:rPr>
              <a:t>Start a scan</a:t>
            </a:r>
            <a:endParaRPr lang="en-US" sz="2160" dirty="0"/>
          </a:p>
        </p:txBody>
      </p:sp>
      <p:sp>
        <p:nvSpPr>
          <p:cNvPr id="20" name="Text 18"/>
          <p:cNvSpPr txBox="1"/>
          <p:nvPr/>
        </p:nvSpPr>
        <p:spPr>
          <a:xfrm>
            <a:off x="6833174" y="3003621"/>
            <a:ext cx="382219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Public GitHub repository</a:t>
            </a:r>
            <a:endParaRPr lang="en-US" sz="1510" dirty="0"/>
          </a:p>
        </p:txBody>
      </p:sp>
      <p:sp>
        <p:nvSpPr>
          <p:cNvPr id="21" name="Input"/>
          <p:cNvSpPr/>
          <p:nvPr/>
        </p:nvSpPr>
        <p:spPr>
          <a:xfrm>
            <a:off x="6814063" y="3403031"/>
            <a:ext cx="3019532" cy="491581"/>
          </a:xfrm>
          <a:prstGeom prst="roundRect">
            <a:avLst>
              <a:gd name="adj" fmla="val 1360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617" y="3403031"/>
            <a:ext cx="2771089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github.com/owner/repo</a:t>
            </a:r>
            <a:endParaRPr lang="en-US" sz="1400" dirty="0"/>
          </a:p>
        </p:txBody>
      </p:sp>
      <p:sp>
        <p:nvSpPr>
          <p:cNvPr id="23" name="Button"/>
          <p:cNvSpPr/>
          <p:nvPr/>
        </p:nvSpPr>
        <p:spPr>
          <a:xfrm>
            <a:off x="9938705" y="3403031"/>
            <a:ext cx="1605321" cy="491581"/>
          </a:xfrm>
          <a:prstGeom prst="roundRect">
            <a:avLst>
              <a:gd name="adj" fmla="val 4665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38705" y="3403031"/>
            <a:ext cx="1605321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Scan repository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4063" y="4078956"/>
            <a:ext cx="4729963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4063" y="4232575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OUTPUT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14063" y="4642226"/>
            <a:ext cx="472996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scan → </a:t>
            </a:r>
            <a:pPr indent="0" marL="0">
              <a:buNone/>
            </a:pPr>
            <a:r>
              <a:rPr lang="en-US" sz="151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issues found</a:t>
            </a:r>
            <a:endParaRPr lang="en-US" sz="1510" dirty="0"/>
          </a:p>
        </p:txBody>
      </p:sp>
      <p:sp>
        <p:nvSpPr>
          <p:cNvPr id="28" name="Text 26"/>
          <p:cNvSpPr txBox="1"/>
          <p:nvPr/>
        </p:nvSpPr>
        <p:spPr>
          <a:xfrm>
            <a:off x="6814063" y="5051877"/>
            <a:ext cx="472996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fix → </a:t>
            </a:r>
            <a:pPr indent="0" marL="0">
              <a:buNone/>
            </a:pPr>
            <a:r>
              <a:rPr lang="en-US" sz="151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verified</a:t>
            </a:r>
            <a:endParaRPr lang="en-US" sz="1510" dirty="0"/>
          </a:p>
        </p:txBody>
      </p:sp>
      <p:sp>
        <p:nvSpPr>
          <p:cNvPr id="29" name="Text 27"/>
          <p:cNvSpPr txBox="1"/>
          <p:nvPr/>
        </p:nvSpPr>
        <p:spPr>
          <a:xfrm>
            <a:off x="6814063" y="5461528"/>
            <a:ext cx="472996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 → </a:t>
            </a:r>
            <a:pPr indent="0" marL="0">
              <a:buNone/>
            </a:pPr>
            <a:r>
              <a:rPr lang="en-US" sz="151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opened in 1 click</a:t>
            </a:r>
            <a:endParaRPr lang="en-US" sz="15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402336" y="274320"/>
            <a:ext cx="11361466" cy="553029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" name="Logo"/>
          <p:cNvSpPr/>
          <p:nvPr/>
        </p:nvSpPr>
        <p:spPr>
          <a:xfrm>
            <a:off x="598223" y="402725"/>
            <a:ext cx="296220" cy="2962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Logo mark"/>
          <p:cNvSpPr/>
          <p:nvPr/>
        </p:nvSpPr>
        <p:spPr>
          <a:xfrm>
            <a:off x="684223" y="488724"/>
            <a:ext cx="124221" cy="124221"/>
          </a:xfrm>
          <a:prstGeom prst="diamond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20" y="274320"/>
            <a:ext cx="1528877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b="1" dirty="0">
                <a:solidFill>
                  <a:schemeClr val="tx1"/>
                </a:solidFill>
              </a:rPr>
              <a:t>RepoRescue</a:t>
            </a:r>
            <a:endParaRPr lang="en-US" sz="1510" dirty="0"/>
          </a:p>
        </p:txBody>
      </p:sp>
      <p:sp>
        <p:nvSpPr>
          <p:cNvPr id="6" name="Text 4"/>
          <p:cNvSpPr txBox="1"/>
          <p:nvPr/>
        </p:nvSpPr>
        <p:spPr>
          <a:xfrm>
            <a:off x="5235731" y="274320"/>
            <a:ext cx="96252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Active tab"/>
          <p:cNvSpPr/>
          <p:nvPr/>
        </p:nvSpPr>
        <p:spPr>
          <a:xfrm>
            <a:off x="6255131" y="376733"/>
            <a:ext cx="936274" cy="348204"/>
          </a:xfrm>
          <a:prstGeom prst="roundRect">
            <a:avLst>
              <a:gd name="adj" fmla="val 4665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5131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17656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88930" y="274320"/>
            <a:ext cx="901273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16454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Delivery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9210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85337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Proof</a:t>
            </a:r>
            <a:endParaRPr lang="en-US" sz="1300" dirty="0"/>
          </a:p>
        </p:txBody>
      </p:sp>
      <p:sp>
        <p:nvSpPr>
          <p:cNvPr id="14" name="Dot"/>
          <p:cNvSpPr/>
          <p:nvPr/>
        </p:nvSpPr>
        <p:spPr>
          <a:xfrm>
            <a:off x="402336" y="1163620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001" y="1078260"/>
            <a:ext cx="859993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· why newcomers give up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80%</a:t>
            </a:r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 of new contributors quit in their first 15 minutes.</a:t>
            </a:r>
            <a:endParaRPr lang="en-US" sz="3800" dirty="0"/>
          </a:p>
        </p:txBody>
      </p:sp>
      <p:sp>
        <p:nvSpPr>
          <p:cNvPr id="19" name="Card"/>
          <p:cNvSpPr/>
          <p:nvPr/>
        </p:nvSpPr>
        <p:spPr>
          <a:xfrm>
            <a:off x="402336" y="2819278"/>
            <a:ext cx="3678860" cy="2007291"/>
          </a:xfrm>
          <a:prstGeom prst="roundRect">
            <a:avLst>
              <a:gd name="adj" fmla="val 666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2112" y="3003621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2112" y="3362066"/>
            <a:ext cx="32488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tx1"/>
                </a:solidFill>
              </a:rPr>
              <a:t>Hard to set up</a:t>
            </a:r>
            <a:endParaRPr lang="en-US" sz="2160" dirty="0"/>
          </a:p>
        </p:txBody>
      </p:sp>
      <p:sp>
        <p:nvSpPr>
          <p:cNvPr id="22" name="Text 19"/>
          <p:cNvSpPr txBox="1"/>
          <p:nvPr/>
        </p:nvSpPr>
        <p:spPr>
          <a:xfrm>
            <a:off x="622112" y="3874130"/>
            <a:ext cx="3248863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Instructions are broken or missing, so the project won’t even run.</a:t>
            </a:r>
            <a:endParaRPr lang="en-US" sz="1510" dirty="0"/>
          </a:p>
        </p:txBody>
      </p:sp>
      <p:sp>
        <p:nvSpPr>
          <p:cNvPr id="23" name="Card"/>
          <p:cNvSpPr/>
          <p:nvPr/>
        </p:nvSpPr>
        <p:spPr>
          <a:xfrm>
            <a:off x="4243639" y="2819278"/>
            <a:ext cx="3678860" cy="2007291"/>
          </a:xfrm>
          <a:prstGeom prst="roundRect">
            <a:avLst>
              <a:gd name="adj" fmla="val 666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63415" y="3003621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463415" y="3362066"/>
            <a:ext cx="32488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tx1"/>
                </a:solidFill>
              </a:rPr>
              <a:t>Tests fail silently</a:t>
            </a:r>
            <a:endParaRPr lang="en-US" sz="2160" dirty="0"/>
          </a:p>
        </p:txBody>
      </p:sp>
      <p:sp>
        <p:nvSpPr>
          <p:cNvPr id="26" name="Text 23"/>
          <p:cNvSpPr txBox="1"/>
          <p:nvPr/>
        </p:nvSpPr>
        <p:spPr>
          <a:xfrm>
            <a:off x="4463415" y="3874130"/>
            <a:ext cx="3248863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No clear tests or rules, so people can’t tell what went wrong.</a:t>
            </a:r>
            <a:endParaRPr lang="en-US" sz="1510" dirty="0"/>
          </a:p>
        </p:txBody>
      </p:sp>
      <p:sp>
        <p:nvSpPr>
          <p:cNvPr id="27" name="Card"/>
          <p:cNvSpPr/>
          <p:nvPr/>
        </p:nvSpPr>
        <p:spPr>
          <a:xfrm>
            <a:off x="8084942" y="2819278"/>
            <a:ext cx="3678860" cy="2007291"/>
          </a:xfrm>
          <a:prstGeom prst="roundRect">
            <a:avLst>
              <a:gd name="adj" fmla="val 666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04718" y="3003621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304718" y="3362066"/>
            <a:ext cx="32488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tx1"/>
                </a:solidFill>
              </a:rPr>
              <a:t>Maintainer burnout</a:t>
            </a:r>
            <a:endParaRPr lang="en-US" sz="2160" dirty="0"/>
          </a:p>
        </p:txBody>
      </p:sp>
      <p:sp>
        <p:nvSpPr>
          <p:cNvPr id="30" name="Text 27"/>
          <p:cNvSpPr txBox="1"/>
          <p:nvPr/>
        </p:nvSpPr>
        <p:spPr>
          <a:xfrm>
            <a:off x="8304718" y="3874130"/>
            <a:ext cx="3248863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Maintainers waste hours reviewing broken first PRs instead of building.</a:t>
            </a:r>
            <a:endParaRPr lang="en-US" sz="1510" dirty="0"/>
          </a:p>
        </p:txBody>
      </p:sp>
      <p:sp>
        <p:nvSpPr>
          <p:cNvPr id="31" name="Card"/>
          <p:cNvSpPr/>
          <p:nvPr/>
        </p:nvSpPr>
        <p:spPr>
          <a:xfrm>
            <a:off x="402336" y="5072360"/>
            <a:ext cx="11361466" cy="1536192"/>
          </a:xfrm>
          <a:prstGeom prst="roundRect">
            <a:avLst>
              <a:gd name="adj" fmla="val 870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2112" y="5256703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22112" y="5666354"/>
            <a:ext cx="10893247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dirty="0">
                <a:solidFill>
                  <a:schemeClr val="tx1"/>
                </a:solidFill>
              </a:rPr>
              <a:t>People don’t quit because the code is hard. They quit because the project is messy to get started on.</a:t>
            </a:r>
            <a:endParaRPr lang="en-US" sz="1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402336" y="274320"/>
            <a:ext cx="11361466" cy="553029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" name="Logo"/>
          <p:cNvSpPr/>
          <p:nvPr/>
        </p:nvSpPr>
        <p:spPr>
          <a:xfrm>
            <a:off x="598223" y="402725"/>
            <a:ext cx="296220" cy="2962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Logo mark"/>
          <p:cNvSpPr/>
          <p:nvPr/>
        </p:nvSpPr>
        <p:spPr>
          <a:xfrm>
            <a:off x="684223" y="488724"/>
            <a:ext cx="124221" cy="124221"/>
          </a:xfrm>
          <a:prstGeom prst="diamond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20" y="274320"/>
            <a:ext cx="1528877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b="1" dirty="0">
                <a:solidFill>
                  <a:schemeClr val="tx1"/>
                </a:solidFill>
              </a:rPr>
              <a:t>RepoRescue</a:t>
            </a:r>
            <a:endParaRPr lang="en-US" sz="1510" dirty="0"/>
          </a:p>
        </p:txBody>
      </p:sp>
      <p:sp>
        <p:nvSpPr>
          <p:cNvPr id="6" name="Text 4"/>
          <p:cNvSpPr txBox="1"/>
          <p:nvPr/>
        </p:nvSpPr>
        <p:spPr>
          <a:xfrm>
            <a:off x="5235731" y="274320"/>
            <a:ext cx="96252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55131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Active tab"/>
          <p:cNvSpPr/>
          <p:nvPr/>
        </p:nvSpPr>
        <p:spPr>
          <a:xfrm>
            <a:off x="7217656" y="376733"/>
            <a:ext cx="936274" cy="348204"/>
          </a:xfrm>
          <a:prstGeom prst="roundRect">
            <a:avLst>
              <a:gd name="adj" fmla="val 4665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7656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88930" y="274320"/>
            <a:ext cx="901273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16454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Delivery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9210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85337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Proof</a:t>
            </a:r>
            <a:endParaRPr lang="en-US" sz="1300" dirty="0"/>
          </a:p>
        </p:txBody>
      </p:sp>
      <p:sp>
        <p:nvSpPr>
          <p:cNvPr id="14" name="Dot"/>
          <p:cNvSpPr/>
          <p:nvPr/>
        </p:nvSpPr>
        <p:spPr>
          <a:xfrm>
            <a:off x="402336" y="1163620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001" y="1078260"/>
            <a:ext cx="859993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· fix it, don’t just report it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Don’t just find problems. Fix them.</a:t>
            </a:r>
            <a:endParaRPr lang="en-US" sz="3800" dirty="0"/>
          </a:p>
        </p:txBody>
      </p:sp>
      <p:sp>
        <p:nvSpPr>
          <p:cNvPr id="18" name="Card"/>
          <p:cNvSpPr/>
          <p:nvPr/>
        </p:nvSpPr>
        <p:spPr>
          <a:xfrm>
            <a:off x="402336" y="2337938"/>
            <a:ext cx="5599511" cy="2457907"/>
          </a:xfrm>
          <a:prstGeom prst="roundRect">
            <a:avLst>
              <a:gd name="adj" fmla="val 54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0778" y="2542764"/>
            <a:ext cx="477774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accent4"/>
                </a:solidFill>
              </a:rPr>
              <a:t>Traditional scanners</a:t>
            </a:r>
            <a:endParaRPr lang="en-US" sz="2160" dirty="0"/>
          </a:p>
        </p:txBody>
      </p:sp>
      <p:sp>
        <p:nvSpPr>
          <p:cNvPr id="20" name="Text 17"/>
          <p:cNvSpPr txBox="1"/>
          <p:nvPr/>
        </p:nvSpPr>
        <p:spPr>
          <a:xfrm>
            <a:off x="650778" y="2952415"/>
            <a:ext cx="477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9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SonarQube · Snyk · GitHub Scorecards</a:t>
            </a:r>
            <a:endParaRPr lang="en-US" sz="1190" dirty="0"/>
          </a:p>
        </p:txBody>
      </p:sp>
      <p:sp>
        <p:nvSpPr>
          <p:cNvPr id="21" name="Text 18"/>
          <p:cNvSpPr txBox="1"/>
          <p:nvPr/>
        </p:nvSpPr>
        <p:spPr>
          <a:xfrm>
            <a:off x="650778" y="3362066"/>
            <a:ext cx="5064404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30" dirty="0">
                <a:solidFill>
                  <a:schemeClr val="tx2"/>
                </a:solidFill>
              </a:rPr>
              <a:t>Long reports full of issues</a:t>
            </a:r>
            <a:endParaRPr lang="en-US" sz="17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30" dirty="0">
                <a:solidFill>
                  <a:schemeClr val="tx2"/>
                </a:solidFill>
              </a:rPr>
              <a:t>Maintainers have no time to fix them</a:t>
            </a:r>
            <a:endParaRPr lang="en-US" sz="17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30" dirty="0">
                <a:solidFill>
                  <a:schemeClr val="tx2"/>
                </a:solidFill>
              </a:rPr>
              <a:t>New contributors still get stuck</a:t>
            </a:r>
            <a:endParaRPr lang="en-US" sz="1730" dirty="0"/>
          </a:p>
        </p:txBody>
      </p:sp>
      <p:sp>
        <p:nvSpPr>
          <p:cNvPr id="22" name="Highlight card"/>
          <p:cNvSpPr/>
          <p:nvPr/>
        </p:nvSpPr>
        <p:spPr>
          <a:xfrm>
            <a:off x="6164290" y="2337938"/>
            <a:ext cx="5599511" cy="2457907"/>
          </a:xfrm>
          <a:prstGeom prst="roundRect">
            <a:avLst>
              <a:gd name="adj" fmla="val 544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2733" y="2542764"/>
            <a:ext cx="477774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accent1"/>
                </a:solidFill>
              </a:rPr>
              <a:t>RepoRescue</a:t>
            </a:r>
            <a:endParaRPr lang="en-US" sz="2160" dirty="0"/>
          </a:p>
        </p:txBody>
      </p:sp>
      <p:sp>
        <p:nvSpPr>
          <p:cNvPr id="24" name="Text 21"/>
          <p:cNvSpPr txBox="1"/>
          <p:nvPr/>
        </p:nvSpPr>
        <p:spPr>
          <a:xfrm>
            <a:off x="6412733" y="2952415"/>
            <a:ext cx="477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9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· fixes · delivers</a:t>
            </a:r>
            <a:endParaRPr lang="en-US" sz="1190" dirty="0"/>
          </a:p>
        </p:txBody>
      </p:sp>
      <p:sp>
        <p:nvSpPr>
          <p:cNvPr id="25" name="Text 22"/>
          <p:cNvSpPr txBox="1"/>
          <p:nvPr/>
        </p:nvSpPr>
        <p:spPr>
          <a:xfrm>
            <a:off x="6412733" y="3362066"/>
            <a:ext cx="5064404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30" dirty="0">
                <a:solidFill>
                  <a:schemeClr val="tx1"/>
                </a:solidFill>
              </a:rPr>
              <a:t>Checks the repo with clear, fixed rules</a:t>
            </a:r>
            <a:endParaRPr lang="en-US" sz="17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30" dirty="0">
                <a:solidFill>
                  <a:schemeClr val="tx1"/>
                </a:solidFill>
              </a:rPr>
              <a:t>Writes the fixes and double-checks them</a:t>
            </a:r>
            <a:endParaRPr lang="en-US" sz="17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30" dirty="0">
                <a:solidFill>
                  <a:schemeClr val="tx1"/>
                </a:solidFill>
              </a:rPr>
              <a:t>Opens a Pull Request in 1 click</a:t>
            </a:r>
            <a:endParaRPr lang="en-US" sz="1730" dirty="0"/>
          </a:p>
        </p:txBody>
      </p:sp>
      <p:sp>
        <p:nvSpPr>
          <p:cNvPr id="26" name="Card"/>
          <p:cNvSpPr/>
          <p:nvPr/>
        </p:nvSpPr>
        <p:spPr>
          <a:xfrm>
            <a:off x="402336" y="5062118"/>
            <a:ext cx="11361466" cy="1536192"/>
          </a:xfrm>
          <a:prstGeom prst="roundRect">
            <a:avLst>
              <a:gd name="adj" fmla="val 870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0778" y="5307909"/>
            <a:ext cx="108932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accent1"/>
                </a:solidFill>
              </a:rPr>
              <a:t>A score alone is just noise. RepoRescue turns reports into merged code.</a:t>
            </a:r>
            <a:endParaRPr lang="en-US" sz="1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402336" y="274320"/>
            <a:ext cx="11361466" cy="553029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" name="Logo"/>
          <p:cNvSpPr/>
          <p:nvPr/>
        </p:nvSpPr>
        <p:spPr>
          <a:xfrm>
            <a:off x="598223" y="402725"/>
            <a:ext cx="296220" cy="2962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Logo mark"/>
          <p:cNvSpPr/>
          <p:nvPr/>
        </p:nvSpPr>
        <p:spPr>
          <a:xfrm>
            <a:off x="684223" y="488724"/>
            <a:ext cx="124221" cy="124221"/>
          </a:xfrm>
          <a:prstGeom prst="diamond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20" y="274320"/>
            <a:ext cx="1528877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b="1" dirty="0">
                <a:solidFill>
                  <a:schemeClr val="tx1"/>
                </a:solidFill>
              </a:rPr>
              <a:t>RepoRescue</a:t>
            </a:r>
            <a:endParaRPr lang="en-US" sz="1510" dirty="0"/>
          </a:p>
        </p:txBody>
      </p:sp>
      <p:sp>
        <p:nvSpPr>
          <p:cNvPr id="6" name="Text 4"/>
          <p:cNvSpPr txBox="1"/>
          <p:nvPr/>
        </p:nvSpPr>
        <p:spPr>
          <a:xfrm>
            <a:off x="5235731" y="274320"/>
            <a:ext cx="96252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55131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17656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Active tab"/>
          <p:cNvSpPr/>
          <p:nvPr/>
        </p:nvSpPr>
        <p:spPr>
          <a:xfrm>
            <a:off x="8188930" y="376733"/>
            <a:ext cx="901273" cy="348204"/>
          </a:xfrm>
          <a:prstGeom prst="roundRect">
            <a:avLst>
              <a:gd name="adj" fmla="val 4665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8930" y="274320"/>
            <a:ext cx="901273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16454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Delivery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9210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85337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Proof</a:t>
            </a:r>
            <a:endParaRPr lang="en-US" sz="1300" dirty="0"/>
          </a:p>
        </p:txBody>
      </p:sp>
      <p:sp>
        <p:nvSpPr>
          <p:cNvPr id="14" name="Dot"/>
          <p:cNvSpPr/>
          <p:nvPr/>
        </p:nvSpPr>
        <p:spPr>
          <a:xfrm>
            <a:off x="402336" y="1163620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001" y="1078260"/>
            <a:ext cx="859993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 journey · 5 simple steps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60 seconds from link to ready PR.</a:t>
            </a:r>
            <a:endParaRPr lang="en-US" sz="3800" dirty="0"/>
          </a:p>
        </p:txBody>
      </p:sp>
      <p:sp>
        <p:nvSpPr>
          <p:cNvPr id="18" name="Card"/>
          <p:cNvSpPr/>
          <p:nvPr/>
        </p:nvSpPr>
        <p:spPr>
          <a:xfrm>
            <a:off x="402336" y="2327697"/>
            <a:ext cx="2165272" cy="2253082"/>
          </a:xfrm>
          <a:prstGeom prst="roundRect">
            <a:avLst>
              <a:gd name="adj" fmla="val 61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557" y="2491557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12557" y="2850002"/>
            <a:ext cx="178305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90" b="1" dirty="0">
                <a:solidFill>
                  <a:schemeClr val="tx1"/>
                </a:solidFill>
              </a:rPr>
              <a:t>Scan</a:t>
            </a:r>
            <a:endParaRPr lang="en-US" sz="2590" dirty="0"/>
          </a:p>
        </p:txBody>
      </p:sp>
      <p:sp>
        <p:nvSpPr>
          <p:cNvPr id="21" name="Text 18"/>
          <p:cNvSpPr txBox="1"/>
          <p:nvPr/>
        </p:nvSpPr>
        <p:spPr>
          <a:xfrm>
            <a:off x="612557" y="3413272"/>
            <a:ext cx="178305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Reads the repo through GitHub’s API. No big downloads.</a:t>
            </a:r>
            <a:endParaRPr lang="en-US" sz="1510" dirty="0"/>
          </a:p>
        </p:txBody>
      </p:sp>
      <p:sp>
        <p:nvSpPr>
          <p:cNvPr id="22" name="Card"/>
          <p:cNvSpPr/>
          <p:nvPr/>
        </p:nvSpPr>
        <p:spPr>
          <a:xfrm>
            <a:off x="2701384" y="2327697"/>
            <a:ext cx="2165272" cy="2253082"/>
          </a:xfrm>
          <a:prstGeom prst="roundRect">
            <a:avLst>
              <a:gd name="adj" fmla="val 61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11605" y="2491557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911605" y="2850002"/>
            <a:ext cx="178305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90" b="1" dirty="0">
                <a:solidFill>
                  <a:schemeClr val="tx1"/>
                </a:solidFill>
              </a:rPr>
              <a:t>Find</a:t>
            </a:r>
            <a:endParaRPr lang="en-US" sz="2590" dirty="0"/>
          </a:p>
        </p:txBody>
      </p:sp>
      <p:sp>
        <p:nvSpPr>
          <p:cNvPr id="25" name="Text 22"/>
          <p:cNvSpPr txBox="1"/>
          <p:nvPr/>
        </p:nvSpPr>
        <p:spPr>
          <a:xfrm>
            <a:off x="2911605" y="3413272"/>
            <a:ext cx="178305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Runs 21 simple checks across 5 areas.</a:t>
            </a:r>
            <a:endParaRPr lang="en-US" sz="1510" dirty="0"/>
          </a:p>
        </p:txBody>
      </p:sp>
      <p:sp>
        <p:nvSpPr>
          <p:cNvPr id="26" name="Card"/>
          <p:cNvSpPr/>
          <p:nvPr/>
        </p:nvSpPr>
        <p:spPr>
          <a:xfrm>
            <a:off x="5000433" y="2327697"/>
            <a:ext cx="2165272" cy="2253082"/>
          </a:xfrm>
          <a:prstGeom prst="roundRect">
            <a:avLst>
              <a:gd name="adj" fmla="val 61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10654" y="2491557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210654" y="2850002"/>
            <a:ext cx="178305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90" b="1" dirty="0">
                <a:solidFill>
                  <a:schemeClr val="tx1"/>
                </a:solidFill>
              </a:rPr>
              <a:t>Fix</a:t>
            </a:r>
            <a:endParaRPr lang="en-US" sz="2590" dirty="0"/>
          </a:p>
        </p:txBody>
      </p:sp>
      <p:sp>
        <p:nvSpPr>
          <p:cNvPr id="29" name="Text 26"/>
          <p:cNvSpPr txBox="1"/>
          <p:nvPr/>
        </p:nvSpPr>
        <p:spPr>
          <a:xfrm>
            <a:off x="5210654" y="3413272"/>
            <a:ext cx="178305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Creates missing files: license, setup, guides.</a:t>
            </a:r>
            <a:endParaRPr lang="en-US" sz="1510" dirty="0"/>
          </a:p>
        </p:txBody>
      </p:sp>
      <p:sp>
        <p:nvSpPr>
          <p:cNvPr id="30" name="Card"/>
          <p:cNvSpPr/>
          <p:nvPr/>
        </p:nvSpPr>
        <p:spPr>
          <a:xfrm>
            <a:off x="7299481" y="2327697"/>
            <a:ext cx="2165272" cy="2253082"/>
          </a:xfrm>
          <a:prstGeom prst="roundRect">
            <a:avLst>
              <a:gd name="adj" fmla="val 61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09702" y="2491557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509702" y="2850002"/>
            <a:ext cx="178305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90" b="1" dirty="0">
                <a:solidFill>
                  <a:schemeClr val="tx1"/>
                </a:solidFill>
              </a:rPr>
              <a:t>Review</a:t>
            </a:r>
            <a:endParaRPr lang="en-US" sz="2590" dirty="0"/>
          </a:p>
        </p:txBody>
      </p:sp>
      <p:sp>
        <p:nvSpPr>
          <p:cNvPr id="33" name="Text 30"/>
          <p:cNvSpPr txBox="1"/>
          <p:nvPr/>
        </p:nvSpPr>
        <p:spPr>
          <a:xfrm>
            <a:off x="7509702" y="3413272"/>
            <a:ext cx="178305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You approve each change before anything is sent.</a:t>
            </a:r>
            <a:endParaRPr lang="en-US" sz="1510" dirty="0"/>
          </a:p>
        </p:txBody>
      </p:sp>
      <p:sp>
        <p:nvSpPr>
          <p:cNvPr id="34" name="Card"/>
          <p:cNvSpPr/>
          <p:nvPr/>
        </p:nvSpPr>
        <p:spPr>
          <a:xfrm>
            <a:off x="9598530" y="2327697"/>
            <a:ext cx="2165272" cy="2253082"/>
          </a:xfrm>
          <a:prstGeom prst="roundRect">
            <a:avLst>
              <a:gd name="adj" fmla="val 61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808751" y="2491557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808751" y="2850002"/>
            <a:ext cx="178305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90" b="1" dirty="0">
                <a:solidFill>
                  <a:schemeClr val="tx1"/>
                </a:solidFill>
              </a:rPr>
              <a:t>Verify</a:t>
            </a:r>
            <a:endParaRPr lang="en-US" sz="2590" dirty="0"/>
          </a:p>
        </p:txBody>
      </p:sp>
      <p:sp>
        <p:nvSpPr>
          <p:cNvPr id="37" name="Text 34"/>
          <p:cNvSpPr txBox="1"/>
          <p:nvPr/>
        </p:nvSpPr>
        <p:spPr>
          <a:xfrm>
            <a:off x="9808751" y="3413272"/>
            <a:ext cx="178305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Re-scans to prove the score went up.</a:t>
            </a:r>
            <a:endParaRPr lang="en-US" sz="1510" dirty="0"/>
          </a:p>
        </p:txBody>
      </p:sp>
      <p:sp>
        <p:nvSpPr>
          <p:cNvPr id="38" name="Pill"/>
          <p:cNvSpPr/>
          <p:nvPr/>
        </p:nvSpPr>
        <p:spPr>
          <a:xfrm>
            <a:off x="402336" y="4847052"/>
            <a:ext cx="1433322" cy="368686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02336" y="4847052"/>
            <a:ext cx="1433322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checks</a:t>
            </a:r>
            <a:endParaRPr lang="en-US" sz="1300" dirty="0"/>
          </a:p>
        </p:txBody>
      </p:sp>
      <p:sp>
        <p:nvSpPr>
          <p:cNvPr id="40" name="Pill"/>
          <p:cNvSpPr/>
          <p:nvPr/>
        </p:nvSpPr>
        <p:spPr>
          <a:xfrm>
            <a:off x="1978990" y="4847052"/>
            <a:ext cx="1672209" cy="368686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978990" y="4847052"/>
            <a:ext cx="1672209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categories</a:t>
            </a:r>
            <a:endParaRPr lang="en-US" sz="1300" dirty="0"/>
          </a:p>
        </p:txBody>
      </p:sp>
      <p:sp>
        <p:nvSpPr>
          <p:cNvPr id="42" name="Pill"/>
          <p:cNvSpPr/>
          <p:nvPr/>
        </p:nvSpPr>
        <p:spPr>
          <a:xfrm>
            <a:off x="3794531" y="4847052"/>
            <a:ext cx="2293315" cy="368686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794531" y="4847052"/>
            <a:ext cx="2293315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runs your code</a:t>
            </a:r>
            <a:endParaRPr lang="en-US" sz="1300" dirty="0"/>
          </a:p>
        </p:txBody>
      </p:sp>
      <p:sp>
        <p:nvSpPr>
          <p:cNvPr id="44" name="Pill"/>
          <p:cNvSpPr/>
          <p:nvPr/>
        </p:nvSpPr>
        <p:spPr>
          <a:xfrm>
            <a:off x="6231179" y="4847052"/>
            <a:ext cx="2006651" cy="368686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31179" y="4847052"/>
            <a:ext cx="2006651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1-click PR ready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402336" y="274320"/>
            <a:ext cx="11361466" cy="553029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" name="Logo"/>
          <p:cNvSpPr/>
          <p:nvPr/>
        </p:nvSpPr>
        <p:spPr>
          <a:xfrm>
            <a:off x="598223" y="402725"/>
            <a:ext cx="296220" cy="2962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Logo mark"/>
          <p:cNvSpPr/>
          <p:nvPr/>
        </p:nvSpPr>
        <p:spPr>
          <a:xfrm>
            <a:off x="684223" y="488724"/>
            <a:ext cx="124221" cy="124221"/>
          </a:xfrm>
          <a:prstGeom prst="diamond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20" y="274320"/>
            <a:ext cx="1528877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b="1" dirty="0">
                <a:solidFill>
                  <a:schemeClr val="tx1"/>
                </a:solidFill>
              </a:rPr>
              <a:t>RepoRescue</a:t>
            </a:r>
            <a:endParaRPr lang="en-US" sz="1510" dirty="0"/>
          </a:p>
        </p:txBody>
      </p:sp>
      <p:sp>
        <p:nvSpPr>
          <p:cNvPr id="6" name="Text 4"/>
          <p:cNvSpPr txBox="1"/>
          <p:nvPr/>
        </p:nvSpPr>
        <p:spPr>
          <a:xfrm>
            <a:off x="5235731" y="274320"/>
            <a:ext cx="96252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55131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17656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88930" y="274320"/>
            <a:ext cx="901273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</a:t>
            </a:r>
            <a:endParaRPr lang="en-US" sz="1300" dirty="0"/>
          </a:p>
        </p:txBody>
      </p:sp>
      <p:sp>
        <p:nvSpPr>
          <p:cNvPr id="10" name="Active tab"/>
          <p:cNvSpPr/>
          <p:nvPr/>
        </p:nvSpPr>
        <p:spPr>
          <a:xfrm>
            <a:off x="9116454" y="376733"/>
            <a:ext cx="936274" cy="348204"/>
          </a:xfrm>
          <a:prstGeom prst="roundRect">
            <a:avLst>
              <a:gd name="adj" fmla="val 4665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16454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9210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85337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Proof</a:t>
            </a:r>
            <a:endParaRPr lang="en-US" sz="1300" dirty="0"/>
          </a:p>
        </p:txBody>
      </p:sp>
      <p:sp>
        <p:nvSpPr>
          <p:cNvPr id="14" name="Dot"/>
          <p:cNvSpPr/>
          <p:nvPr/>
        </p:nvSpPr>
        <p:spPr>
          <a:xfrm>
            <a:off x="402336" y="1163620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001" y="1078260"/>
            <a:ext cx="859993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showcase feature · 1-click fork-and-PR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From fix to Pull Request in 1 click.</a:t>
            </a:r>
            <a:endParaRPr lang="en-US" sz="3800" dirty="0"/>
          </a:p>
        </p:txBody>
      </p:sp>
      <p:sp>
        <p:nvSpPr>
          <p:cNvPr id="18" name="Card"/>
          <p:cNvSpPr/>
          <p:nvPr/>
        </p:nvSpPr>
        <p:spPr>
          <a:xfrm>
            <a:off x="402336" y="2327697"/>
            <a:ext cx="5599511" cy="1403055"/>
          </a:xfrm>
          <a:prstGeom prst="roundRect">
            <a:avLst>
              <a:gd name="adj" fmla="val 95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2112" y="2491557"/>
            <a:ext cx="515995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tx1"/>
                </a:solidFill>
              </a:rPr>
              <a:t>Direct GitHub commits</a:t>
            </a:r>
            <a:endParaRPr lang="en-US" sz="1940" dirty="0"/>
          </a:p>
        </p:txBody>
      </p:sp>
      <p:sp>
        <p:nvSpPr>
          <p:cNvPr id="20" name="Text 17"/>
          <p:cNvSpPr txBox="1"/>
          <p:nvPr/>
        </p:nvSpPr>
        <p:spPr>
          <a:xfrm>
            <a:off x="622112" y="2952415"/>
            <a:ext cx="5159959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Builds the commit straight through GitHub’s API, with no local setup.</a:t>
            </a:r>
            <a:endParaRPr lang="en-US" sz="1510" dirty="0"/>
          </a:p>
        </p:txBody>
      </p:sp>
      <p:sp>
        <p:nvSpPr>
          <p:cNvPr id="21" name="Card"/>
          <p:cNvSpPr/>
          <p:nvPr/>
        </p:nvSpPr>
        <p:spPr>
          <a:xfrm>
            <a:off x="6164290" y="2327697"/>
            <a:ext cx="5599511" cy="1403055"/>
          </a:xfrm>
          <a:prstGeom prst="roundRect">
            <a:avLst>
              <a:gd name="adj" fmla="val 95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84066" y="2491557"/>
            <a:ext cx="515995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tx1"/>
                </a:solidFill>
              </a:rPr>
              <a:t>Fork and stay in sync</a:t>
            </a:r>
            <a:endParaRPr lang="en-US" sz="1940" dirty="0"/>
          </a:p>
        </p:txBody>
      </p:sp>
      <p:sp>
        <p:nvSpPr>
          <p:cNvPr id="23" name="Text 20"/>
          <p:cNvSpPr txBox="1"/>
          <p:nvPr/>
        </p:nvSpPr>
        <p:spPr>
          <a:xfrm>
            <a:off x="6384066" y="2952415"/>
            <a:ext cx="5159959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Forks the project and starts from the latest upstream version, so nothing breaks.</a:t>
            </a:r>
            <a:endParaRPr lang="en-US" sz="1510" dirty="0"/>
          </a:p>
        </p:txBody>
      </p:sp>
      <p:sp>
        <p:nvSpPr>
          <p:cNvPr id="24" name="Highlight card"/>
          <p:cNvSpPr/>
          <p:nvPr/>
        </p:nvSpPr>
        <p:spPr>
          <a:xfrm>
            <a:off x="402336" y="3853647"/>
            <a:ext cx="5599511" cy="1822948"/>
          </a:xfrm>
          <a:prstGeom prst="roundRect">
            <a:avLst>
              <a:gd name="adj" fmla="val 7338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2112" y="4017508"/>
            <a:ext cx="515995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accent1"/>
                </a:solidFill>
              </a:rPr>
              <a:t>Limited permissions</a:t>
            </a:r>
            <a:endParaRPr lang="en-US" sz="1940" dirty="0"/>
          </a:p>
        </p:txBody>
      </p:sp>
      <p:sp>
        <p:nvSpPr>
          <p:cNvPr id="26" name="Text 23"/>
          <p:cNvSpPr txBox="1"/>
          <p:nvPr/>
        </p:nvSpPr>
        <p:spPr>
          <a:xfrm>
            <a:off x="622112" y="4478365"/>
            <a:ext cx="5159959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Asks for basic access only. Workflow files are kept separate.</a:t>
            </a:r>
            <a:endParaRPr lang="en-US" sz="1510" dirty="0"/>
          </a:p>
        </p:txBody>
      </p:sp>
      <p:sp>
        <p:nvSpPr>
          <p:cNvPr id="27" name="Pill"/>
          <p:cNvSpPr/>
          <p:nvPr/>
        </p:nvSpPr>
        <p:spPr>
          <a:xfrm>
            <a:off x="622112" y="5154290"/>
            <a:ext cx="2197760" cy="327721"/>
          </a:xfrm>
          <a:prstGeom prst="roundRect">
            <a:avLst>
              <a:gd name="adj" fmla="val 466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2112" y="5154290"/>
            <a:ext cx="2197760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read:user public_repo</a:t>
            </a:r>
            <a:endParaRPr lang="en-US" sz="1190" dirty="0"/>
          </a:p>
        </p:txBody>
      </p:sp>
      <p:sp>
        <p:nvSpPr>
          <p:cNvPr id="29" name="Card"/>
          <p:cNvSpPr/>
          <p:nvPr/>
        </p:nvSpPr>
        <p:spPr>
          <a:xfrm>
            <a:off x="6164290" y="3853647"/>
            <a:ext cx="5599511" cy="1822948"/>
          </a:xfrm>
          <a:prstGeom prst="roundRect">
            <a:avLst>
              <a:gd name="adj" fmla="val 73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84066" y="4017508"/>
            <a:ext cx="5159959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accent3"/>
                </a:solidFill>
              </a:rPr>
              <a:t>Tokens stay private</a:t>
            </a:r>
            <a:endParaRPr lang="en-US" sz="1940" dirty="0"/>
          </a:p>
        </p:txBody>
      </p:sp>
      <p:sp>
        <p:nvSpPr>
          <p:cNvPr id="31" name="Text 28"/>
          <p:cNvSpPr txBox="1"/>
          <p:nvPr/>
        </p:nvSpPr>
        <p:spPr>
          <a:xfrm>
            <a:off x="6384066" y="4478365"/>
            <a:ext cx="5159959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Access lasts one session. It is never logged and never saved to disk.</a:t>
            </a:r>
            <a:endParaRPr lang="en-US" sz="15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402336" y="274320"/>
            <a:ext cx="11361466" cy="553029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" name="Logo"/>
          <p:cNvSpPr/>
          <p:nvPr/>
        </p:nvSpPr>
        <p:spPr>
          <a:xfrm>
            <a:off x="598223" y="402725"/>
            <a:ext cx="296220" cy="2962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Logo mark"/>
          <p:cNvSpPr/>
          <p:nvPr/>
        </p:nvSpPr>
        <p:spPr>
          <a:xfrm>
            <a:off x="684223" y="488724"/>
            <a:ext cx="124221" cy="124221"/>
          </a:xfrm>
          <a:prstGeom prst="diamond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20" y="274320"/>
            <a:ext cx="1528877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b="1" dirty="0">
                <a:solidFill>
                  <a:schemeClr val="tx1"/>
                </a:solidFill>
              </a:rPr>
              <a:t>RepoRescue</a:t>
            </a:r>
            <a:endParaRPr lang="en-US" sz="1510" dirty="0"/>
          </a:p>
        </p:txBody>
      </p:sp>
      <p:sp>
        <p:nvSpPr>
          <p:cNvPr id="6" name="Text 4"/>
          <p:cNvSpPr txBox="1"/>
          <p:nvPr/>
        </p:nvSpPr>
        <p:spPr>
          <a:xfrm>
            <a:off x="5235731" y="274320"/>
            <a:ext cx="96252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55131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17656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88930" y="274320"/>
            <a:ext cx="901273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16454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Delivery</a:t>
            </a:r>
            <a:endParaRPr lang="en-US" sz="1300" dirty="0"/>
          </a:p>
        </p:txBody>
      </p:sp>
      <p:sp>
        <p:nvSpPr>
          <p:cNvPr id="11" name="Active tab"/>
          <p:cNvSpPr/>
          <p:nvPr/>
        </p:nvSpPr>
        <p:spPr>
          <a:xfrm>
            <a:off x="10092103" y="376733"/>
            <a:ext cx="717518" cy="348204"/>
          </a:xfrm>
          <a:prstGeom prst="roundRect">
            <a:avLst>
              <a:gd name="adj" fmla="val 4665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9210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85337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Proof</a:t>
            </a:r>
            <a:endParaRPr lang="en-US" sz="1300" dirty="0"/>
          </a:p>
        </p:txBody>
      </p:sp>
      <p:sp>
        <p:nvSpPr>
          <p:cNvPr id="14" name="Dot"/>
          <p:cNvSpPr/>
          <p:nvPr/>
        </p:nvSpPr>
        <p:spPr>
          <a:xfrm>
            <a:off x="402336" y="1163620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001" y="1078260"/>
            <a:ext cx="859993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simple and trustworthy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Rules do the fixing. AI only explains.</a:t>
            </a:r>
            <a:endParaRPr lang="en-US" sz="3800" dirty="0"/>
          </a:p>
        </p:txBody>
      </p:sp>
      <p:sp>
        <p:nvSpPr>
          <p:cNvPr id="18" name="Pill"/>
          <p:cNvSpPr/>
          <p:nvPr/>
        </p:nvSpPr>
        <p:spPr>
          <a:xfrm>
            <a:off x="411891" y="2337938"/>
            <a:ext cx="2732867" cy="614477"/>
          </a:xfrm>
          <a:prstGeom prst="roundRect">
            <a:avLst>
              <a:gd name="adj" fmla="val 15551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891" y="2337938"/>
            <a:ext cx="27328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 25%</a:t>
            </a:r>
            <a:endParaRPr lang="en-US" sz="1300" dirty="0"/>
          </a:p>
        </p:txBody>
      </p:sp>
      <p:sp>
        <p:nvSpPr>
          <p:cNvPr id="20" name="Pill"/>
          <p:cNvSpPr/>
          <p:nvPr/>
        </p:nvSpPr>
        <p:spPr>
          <a:xfrm>
            <a:off x="3202092" y="2337938"/>
            <a:ext cx="2732867" cy="614477"/>
          </a:xfrm>
          <a:prstGeom prst="roundRect">
            <a:avLst>
              <a:gd name="adj" fmla="val 15551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2092" y="2337938"/>
            <a:ext cx="27328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25%</a:t>
            </a:r>
            <a:endParaRPr lang="en-US" sz="1300" dirty="0"/>
          </a:p>
        </p:txBody>
      </p:sp>
      <p:sp>
        <p:nvSpPr>
          <p:cNvPr id="22" name="Pill"/>
          <p:cNvSpPr/>
          <p:nvPr/>
        </p:nvSpPr>
        <p:spPr>
          <a:xfrm>
            <a:off x="5982736" y="2337938"/>
            <a:ext cx="2226427" cy="614477"/>
          </a:xfrm>
          <a:prstGeom prst="roundRect">
            <a:avLst>
              <a:gd name="adj" fmla="val 15551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2736" y="2337938"/>
            <a:ext cx="222642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20%</a:t>
            </a:r>
            <a:endParaRPr lang="en-US" sz="1300" dirty="0"/>
          </a:p>
        </p:txBody>
      </p:sp>
      <p:sp>
        <p:nvSpPr>
          <p:cNvPr id="24" name="Pill"/>
          <p:cNvSpPr/>
          <p:nvPr/>
        </p:nvSpPr>
        <p:spPr>
          <a:xfrm>
            <a:off x="8256941" y="2337938"/>
            <a:ext cx="1729542" cy="614477"/>
          </a:xfrm>
          <a:prstGeom prst="roundRect">
            <a:avLst>
              <a:gd name="adj" fmla="val 15551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56941" y="2337938"/>
            <a:ext cx="172954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 15%</a:t>
            </a:r>
            <a:endParaRPr lang="en-US" sz="1300" dirty="0"/>
          </a:p>
        </p:txBody>
      </p:sp>
      <p:sp>
        <p:nvSpPr>
          <p:cNvPr id="26" name="Pill"/>
          <p:cNvSpPr/>
          <p:nvPr/>
        </p:nvSpPr>
        <p:spPr>
          <a:xfrm>
            <a:off x="10043815" y="2337938"/>
            <a:ext cx="1719986" cy="614477"/>
          </a:xfrm>
          <a:prstGeom prst="roundRect">
            <a:avLst>
              <a:gd name="adj" fmla="val 15551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43815" y="2337938"/>
            <a:ext cx="171998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Housekeeping 15%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411891" y="3362066"/>
            <a:ext cx="2732867" cy="1997050"/>
          </a:xfrm>
          <a:prstGeom prst="roundRect">
            <a:avLst>
              <a:gd name="adj" fmla="val 669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2112" y="3525926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22112" y="3894612"/>
            <a:ext cx="23506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tx1"/>
                </a:solidFill>
              </a:rPr>
              <a:t>21 clear rules</a:t>
            </a:r>
            <a:endParaRPr lang="en-US" sz="1940" dirty="0"/>
          </a:p>
        </p:txBody>
      </p:sp>
      <p:sp>
        <p:nvSpPr>
          <p:cNvPr id="31" name="Text 28"/>
          <p:cNvSpPr txBox="1"/>
          <p:nvPr/>
        </p:nvSpPr>
        <p:spPr>
          <a:xfrm>
            <a:off x="622112" y="4355470"/>
            <a:ext cx="235064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Grouped into 5 areas. Every point is backed by a real file.</a:t>
            </a:r>
            <a:endParaRPr lang="en-US" sz="1510" dirty="0"/>
          </a:p>
        </p:txBody>
      </p:sp>
      <p:sp>
        <p:nvSpPr>
          <p:cNvPr id="32" name="Card"/>
          <p:cNvSpPr/>
          <p:nvPr/>
        </p:nvSpPr>
        <p:spPr>
          <a:xfrm>
            <a:off x="3288091" y="3362066"/>
            <a:ext cx="2732867" cy="1997050"/>
          </a:xfrm>
          <a:prstGeom prst="roundRect">
            <a:avLst>
              <a:gd name="adj" fmla="val 669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98312" y="3525926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498312" y="3894612"/>
            <a:ext cx="23506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tx1"/>
                </a:solidFill>
              </a:rPr>
              <a:t>Fair scoring</a:t>
            </a:r>
            <a:endParaRPr lang="en-US" sz="1940" dirty="0"/>
          </a:p>
        </p:txBody>
      </p:sp>
      <p:sp>
        <p:nvSpPr>
          <p:cNvPr id="35" name="Text 32"/>
          <p:cNvSpPr txBox="1"/>
          <p:nvPr/>
        </p:nvSpPr>
        <p:spPr>
          <a:xfrm>
            <a:off x="3498312" y="4355470"/>
            <a:ext cx="235064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Rules that don’t apply to a project are skipped.</a:t>
            </a:r>
            <a:endParaRPr lang="en-US" sz="1510" dirty="0"/>
          </a:p>
        </p:txBody>
      </p:sp>
      <p:sp>
        <p:nvSpPr>
          <p:cNvPr id="36" name="Card"/>
          <p:cNvSpPr/>
          <p:nvPr/>
        </p:nvSpPr>
        <p:spPr>
          <a:xfrm>
            <a:off x="6164290" y="3362066"/>
            <a:ext cx="2732867" cy="1997050"/>
          </a:xfrm>
          <a:prstGeom prst="roundRect">
            <a:avLst>
              <a:gd name="adj" fmla="val 669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74511" y="3525926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374511" y="3894612"/>
            <a:ext cx="23506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tx1"/>
                </a:solidFill>
              </a:rPr>
              <a:t>No AI for fixes</a:t>
            </a:r>
            <a:endParaRPr lang="en-US" sz="1940" dirty="0"/>
          </a:p>
        </p:txBody>
      </p:sp>
      <p:sp>
        <p:nvSpPr>
          <p:cNvPr id="39" name="Text 36"/>
          <p:cNvSpPr txBox="1"/>
          <p:nvPr/>
        </p:nvSpPr>
        <p:spPr>
          <a:xfrm>
            <a:off x="6374511" y="4355470"/>
            <a:ext cx="235064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Fixes come from rules. Optional Gemini AI only explains them.</a:t>
            </a:r>
            <a:endParaRPr lang="en-US" sz="1510" dirty="0"/>
          </a:p>
        </p:txBody>
      </p:sp>
      <p:sp>
        <p:nvSpPr>
          <p:cNvPr id="40" name="Card"/>
          <p:cNvSpPr/>
          <p:nvPr/>
        </p:nvSpPr>
        <p:spPr>
          <a:xfrm>
            <a:off x="9040490" y="3362066"/>
            <a:ext cx="2732867" cy="1997050"/>
          </a:xfrm>
          <a:prstGeom prst="roundRect">
            <a:avLst>
              <a:gd name="adj" fmla="val 669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250710" y="3525926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9250710" y="3894612"/>
            <a:ext cx="23506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0" b="1" dirty="0">
                <a:solidFill>
                  <a:schemeClr val="tx1"/>
                </a:solidFill>
              </a:rPr>
              <a:t>Well tested</a:t>
            </a:r>
            <a:endParaRPr lang="en-US" sz="1940" dirty="0"/>
          </a:p>
        </p:txBody>
      </p:sp>
      <p:sp>
        <p:nvSpPr>
          <p:cNvPr id="43" name="Text 40"/>
          <p:cNvSpPr txBox="1"/>
          <p:nvPr/>
        </p:nvSpPr>
        <p:spPr>
          <a:xfrm>
            <a:off x="9250710" y="4355470"/>
            <a:ext cx="235064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chemeClr val="tx2"/>
                </a:solidFill>
              </a:rPr>
              <a:t>99 of 99 tests pass, with zero lint errors.</a:t>
            </a:r>
            <a:endParaRPr lang="en-US" sz="15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402336" y="274320"/>
            <a:ext cx="11361466" cy="553029"/>
          </a:xfrm>
          <a:prstGeom prst="roundRect">
            <a:avLst>
              <a:gd name="adj" fmla="val 466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" name="Logo"/>
          <p:cNvSpPr/>
          <p:nvPr/>
        </p:nvSpPr>
        <p:spPr>
          <a:xfrm>
            <a:off x="598223" y="402725"/>
            <a:ext cx="296220" cy="2962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Logo mark"/>
          <p:cNvSpPr/>
          <p:nvPr/>
        </p:nvSpPr>
        <p:spPr>
          <a:xfrm>
            <a:off x="684223" y="488724"/>
            <a:ext cx="124221" cy="124221"/>
          </a:xfrm>
          <a:prstGeom prst="diamond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20" y="274320"/>
            <a:ext cx="1528877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b="1" dirty="0">
                <a:solidFill>
                  <a:schemeClr val="tx1"/>
                </a:solidFill>
              </a:rPr>
              <a:t>RepoRescue</a:t>
            </a:r>
            <a:endParaRPr lang="en-US" sz="1510" dirty="0"/>
          </a:p>
        </p:txBody>
      </p:sp>
      <p:sp>
        <p:nvSpPr>
          <p:cNvPr id="6" name="Text 4"/>
          <p:cNvSpPr txBox="1"/>
          <p:nvPr/>
        </p:nvSpPr>
        <p:spPr>
          <a:xfrm>
            <a:off x="5235731" y="274320"/>
            <a:ext cx="96252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55131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17656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88930" y="274320"/>
            <a:ext cx="901273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16454" y="274320"/>
            <a:ext cx="936274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Delivery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9210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Stack</a:t>
            </a:r>
            <a:endParaRPr lang="en-US" sz="1300" dirty="0"/>
          </a:p>
        </p:txBody>
      </p:sp>
      <p:sp>
        <p:nvSpPr>
          <p:cNvPr id="12" name="Active tab"/>
          <p:cNvSpPr/>
          <p:nvPr/>
        </p:nvSpPr>
        <p:spPr>
          <a:xfrm>
            <a:off x="10853373" y="376733"/>
            <a:ext cx="717518" cy="348204"/>
          </a:xfrm>
          <a:prstGeom prst="roundRect">
            <a:avLst>
              <a:gd name="adj" fmla="val 4665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53373" y="274320"/>
            <a:ext cx="717518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Proof</a:t>
            </a:r>
            <a:endParaRPr lang="en-US" sz="1300" dirty="0"/>
          </a:p>
        </p:txBody>
      </p:sp>
      <p:sp>
        <p:nvSpPr>
          <p:cNvPr id="14" name="Dot"/>
          <p:cNvSpPr/>
          <p:nvPr/>
        </p:nvSpPr>
        <p:spPr>
          <a:xfrm>
            <a:off x="402336" y="1163620"/>
            <a:ext cx="95555" cy="95555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001" y="1078260"/>
            <a:ext cx="859993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proof · before and after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02336" y="1517904"/>
            <a:ext cx="11384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Real results on real projects.</a:t>
            </a:r>
            <a:endParaRPr lang="en-US" sz="3800" dirty="0"/>
          </a:p>
        </p:txBody>
      </p:sp>
      <p:sp>
        <p:nvSpPr>
          <p:cNvPr id="18" name="Ring track"/>
          <p:cNvSpPr/>
          <p:nvPr/>
        </p:nvSpPr>
        <p:spPr>
          <a:xfrm>
            <a:off x="650778" y="2647462"/>
            <a:ext cx="1490655" cy="1490655"/>
          </a:xfrm>
          <a:prstGeom prst="ellipse">
            <a:avLst/>
          </a:prstGeom>
          <a:ln w="190500">
            <a:solidFill>
              <a:schemeClr val="accent5"/>
            </a:solidFill>
            <a:prstDash val="solid"/>
          </a:ln>
        </p:spPr>
      </p:sp>
      <p:sp>
        <p:nvSpPr>
          <p:cNvPr id="19" name="Ring value"/>
          <p:cNvSpPr/>
          <p:nvPr/>
        </p:nvSpPr>
        <p:spPr>
          <a:xfrm>
            <a:off x="650778" y="2647462"/>
            <a:ext cx="1490655" cy="1490655"/>
          </a:xfrm>
          <a:prstGeom prst="arc">
            <a:avLst>
              <a:gd name="adj1" fmla="val 16200000"/>
              <a:gd name="adj2" fmla="val 4752000"/>
            </a:avLst>
          </a:prstGeom>
          <a:noFill/>
          <a:ln w="190500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7222" y="3085551"/>
            <a:ext cx="13377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9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3890" dirty="0"/>
          </a:p>
        </p:txBody>
      </p:sp>
      <p:sp>
        <p:nvSpPr>
          <p:cNvPr id="21" name="Text 18"/>
          <p:cNvSpPr txBox="1"/>
          <p:nvPr/>
        </p:nvSpPr>
        <p:spPr>
          <a:xfrm>
            <a:off x="727222" y="4468124"/>
            <a:ext cx="1337767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300" dirty="0"/>
          </a:p>
        </p:txBody>
      </p:sp>
      <p:sp>
        <p:nvSpPr>
          <p:cNvPr id="22" name="Ring track"/>
          <p:cNvSpPr/>
          <p:nvPr/>
        </p:nvSpPr>
        <p:spPr>
          <a:xfrm>
            <a:off x="3804087" y="2647462"/>
            <a:ext cx="1490655" cy="1490655"/>
          </a:xfrm>
          <a:prstGeom prst="ellipse">
            <a:avLst/>
          </a:prstGeom>
          <a:ln w="190500">
            <a:solidFill>
              <a:schemeClr val="accent5"/>
            </a:solidFill>
            <a:prstDash val="solid"/>
          </a:ln>
        </p:spPr>
      </p:sp>
      <p:sp>
        <p:nvSpPr>
          <p:cNvPr id="23" name="Ring value"/>
          <p:cNvSpPr/>
          <p:nvPr/>
        </p:nvSpPr>
        <p:spPr>
          <a:xfrm>
            <a:off x="3804087" y="2647462"/>
            <a:ext cx="1490655" cy="1490655"/>
          </a:xfrm>
          <a:prstGeom prst="arc">
            <a:avLst>
              <a:gd name="adj1" fmla="val 16200000"/>
              <a:gd name="adj2" fmla="val 12744000"/>
            </a:avLst>
          </a:prstGeom>
          <a:noFill/>
          <a:ln w="1905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80531" y="3085551"/>
            <a:ext cx="13377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9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3890" dirty="0"/>
          </a:p>
        </p:txBody>
      </p:sp>
      <p:sp>
        <p:nvSpPr>
          <p:cNvPr id="25" name="Text 22"/>
          <p:cNvSpPr txBox="1"/>
          <p:nvPr/>
        </p:nvSpPr>
        <p:spPr>
          <a:xfrm>
            <a:off x="3880531" y="4468124"/>
            <a:ext cx="1337767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437653" y="3157240"/>
            <a:ext cx="10988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+37 →</a:t>
            </a:r>
            <a:endParaRPr lang="en-US" sz="2160" dirty="0"/>
          </a:p>
        </p:txBody>
      </p:sp>
      <p:sp>
        <p:nvSpPr>
          <p:cNvPr id="27" name="Benchmark card"/>
          <p:cNvSpPr/>
          <p:nvPr/>
        </p:nvSpPr>
        <p:spPr>
          <a:xfrm>
            <a:off x="5734294" y="2389144"/>
            <a:ext cx="6029508" cy="2304288"/>
          </a:xfrm>
          <a:prstGeom prst="roundRect">
            <a:avLst>
              <a:gd name="adj" fmla="val 7464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Pill"/>
          <p:cNvSpPr/>
          <p:nvPr/>
        </p:nvSpPr>
        <p:spPr>
          <a:xfrm>
            <a:off x="5973181" y="2593970"/>
            <a:ext cx="1672209" cy="348204"/>
          </a:xfrm>
          <a:prstGeom prst="roundRect">
            <a:avLst>
              <a:gd name="adj" fmla="val 466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73181" y="2593970"/>
            <a:ext cx="1672209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repo</a:t>
            </a:r>
            <a:endParaRPr lang="en-US" sz="1190" dirty="0"/>
          </a:p>
        </p:txBody>
      </p:sp>
      <p:sp>
        <p:nvSpPr>
          <p:cNvPr id="30" name="Text 27"/>
          <p:cNvSpPr txBox="1"/>
          <p:nvPr/>
        </p:nvSpPr>
        <p:spPr>
          <a:xfrm>
            <a:off x="5973181" y="3054828"/>
            <a:ext cx="38221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beacon-api</a:t>
            </a:r>
            <a:endParaRPr lang="en-US" sz="2160" dirty="0"/>
          </a:p>
        </p:txBody>
      </p:sp>
      <p:sp>
        <p:nvSpPr>
          <p:cNvPr id="31" name="Text 28"/>
          <p:cNvSpPr txBox="1"/>
          <p:nvPr/>
        </p:nvSpPr>
        <p:spPr>
          <a:xfrm>
            <a:off x="5973181" y="3566892"/>
            <a:ext cx="554217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30" dirty="0">
                <a:solidFill>
                  <a:schemeClr val="tx1"/>
                </a:solidFill>
              </a:rPr>
              <a:t>Score jumped from 47 to 84</a:t>
            </a:r>
            <a:endParaRPr lang="en-US" sz="17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30" dirty="0">
                <a:solidFill>
                  <a:schemeClr val="tx1"/>
                </a:solidFill>
              </a:rPr>
              <a:t>7 ready-to-use files added</a:t>
            </a:r>
            <a:endParaRPr lang="en-US" sz="17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30" dirty="0">
                <a:solidFill>
                  <a:schemeClr val="tx1"/>
                </a:solidFill>
              </a:rPr>
              <a:t>Pull Request opened in under 4 seconds</a:t>
            </a:r>
            <a:endParaRPr lang="en-US" sz="1730" dirty="0"/>
          </a:p>
        </p:txBody>
      </p:sp>
      <p:sp>
        <p:nvSpPr>
          <p:cNvPr id="32" name="Card"/>
          <p:cNvSpPr/>
          <p:nvPr/>
        </p:nvSpPr>
        <p:spPr>
          <a:xfrm>
            <a:off x="402336" y="5021153"/>
            <a:ext cx="11361466" cy="819302"/>
          </a:xfrm>
          <a:prstGeom prst="roundRect">
            <a:avLst>
              <a:gd name="adj" fmla="val 1632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2112" y="5021153"/>
            <a:ext cx="10893247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0" b="1" dirty="0">
                <a:solidFill>
                  <a:schemeClr val="tx1"/>
                </a:solidFill>
              </a:rPr>
              <a:t>RepoRescue closes the gap between wanting to contribute and sending your first merge-ready PR.</a:t>
            </a:r>
            <a:endParaRPr lang="en-US" sz="1730" dirty="0"/>
          </a:p>
        </p:txBody>
      </p:sp>
      <p:sp>
        <p:nvSpPr>
          <p:cNvPr id="34" name="Shape 31"/>
          <p:cNvSpPr/>
          <p:nvPr/>
        </p:nvSpPr>
        <p:spPr>
          <a:xfrm>
            <a:off x="402336" y="6741688"/>
            <a:ext cx="1136146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02336" y="6895308"/>
            <a:ext cx="7644384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COGNIVANCE · Ayushman Sharma · Shreyas Gondkar · Devansh Bansal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932054" y="6895308"/>
            <a:ext cx="3831747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DevForge Hacktoberfest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oRescue Dark">
  <a:themeElements>
    <a:clrScheme name="RepoRescue Dark">
      <a:dk1>
        <a:srgbClr val="F4F4F5"/>
      </a:dk1>
      <a:lt1>
        <a:srgbClr val="171717"/>
      </a:lt1>
      <a:dk2>
        <a:srgbClr val="A1A1AA"/>
      </a:dk2>
      <a:lt2>
        <a:srgbClr val="1D1D21"/>
      </a:lt2>
      <a:accent1>
        <a:srgbClr val="FDEB4A"/>
      </a:accent1>
      <a:accent2>
        <a:srgbClr val="A06BFF"/>
      </a:accent2>
      <a:accent3>
        <a:srgbClr val="10B981"/>
      </a:accent3>
      <a:accent4>
        <a:srgbClr val="FF7A70"/>
      </a:accent4>
      <a:accent5>
        <a:srgbClr val="2C2C33"/>
      </a:accent5>
      <a:accent6>
        <a:srgbClr val="322D44"/>
      </a:accent6>
      <a:hlink>
        <a:srgbClr val="A06BFF"/>
      </a:hlink>
      <a:folHlink>
        <a:srgbClr val="A06BFF"/>
      </a:folHlink>
    </a:clrScheme>
    <a:fontScheme name="RepoRescue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RepoRescue – Hackathon Pitch</dc:title>
  <dc:subject>PptxGenJS Presentation</dc:subject>
  <dc:creator>Team Cognivance</dc:creator>
  <cp:lastModifiedBy>Team Cognivance</cp:lastModifiedBy>
  <cp:revision>1</cp:revision>
  <dcterms:created xsi:type="dcterms:W3CDTF">2026-10-31T01:46:32Z</dcterms:created>
  <dcterms:modified xsi:type="dcterms:W3CDTF">2026-10-31T01:46:32Z</dcterms:modified>
</cp:coreProperties>
</file>